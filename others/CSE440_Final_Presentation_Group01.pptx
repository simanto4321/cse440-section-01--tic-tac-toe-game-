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282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56032" y="155448"/>
            <a:ext cx="164592" cy="164592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2920" y="155448"/>
            <a:ext cx="164592" cy="164592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49808" y="155448"/>
            <a:ext cx="164592" cy="164592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73152"/>
            <a:ext cx="8686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9696A0"/>
                </a:solidFill>
                <a:latin typeface="Consolas"/>
              </a:rPr>
              <a:t>python  ·  main.py - open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73152"/>
            <a:ext cx="3017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50C878"/>
                </a:solidFill>
                <a:latin typeface="Consolas"/>
              </a:rPr>
              <a:t>1/5  Mehedi START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C0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46520"/>
            <a:ext cx="12191695" cy="27432"/>
          </a:xfrm>
          <a:prstGeom prst="rect">
            <a:avLst/>
          </a:prstGeom>
          <a:solidFill>
            <a:srgbClr val="50C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510528"/>
            <a:ext cx="11612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9696A0"/>
                </a:solidFill>
                <a:latin typeface="Calibri"/>
              </a:rPr>
              <a:t>Group 01  |  Mehedi Ashraf Simanto  ·  Md. Mazharul Islam Masum  ·  Mst. Fahmida Akter  ·  Abdur Rahman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566928"/>
            <a:ext cx="11338560" cy="347472"/>
          </a:xfrm>
          <a:prstGeom prst="rect">
            <a:avLst/>
          </a:prstGeom>
          <a:solidFill>
            <a:srgbClr val="1A1A20"/>
          </a:solidFill>
          <a:ln w="12700">
            <a:solidFill>
              <a:srgbClr val="50C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585216"/>
            <a:ext cx="10972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50C878"/>
                </a:solidFill>
                <a:latin typeface="Consolas"/>
              </a:rPr>
              <a:t>SPEAKER  </a:t>
            </a:r>
            <a:r>
              <a:rPr sz="1400" b="1">
                <a:solidFill>
                  <a:srgbClr val="E6E6E6"/>
                </a:solidFill>
                <a:latin typeface="Calibri"/>
              </a:rPr>
              <a:t>Mehedi Ashraf Simanto   ·   opens the presentation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051560"/>
            <a:ext cx="11338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50C878"/>
                </a:solidFill>
                <a:latin typeface="Consolas"/>
              </a:rPr>
              <a:t>&gt; </a:t>
            </a:r>
            <a:r>
              <a:rPr sz="3000" b="1">
                <a:solidFill>
                  <a:srgbClr val="E6E6E6"/>
                </a:solidFill>
                <a:latin typeface="Calibri"/>
              </a:rPr>
              <a:t>Console Tic-Tac-Toe with Rule-Based 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16459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9696A0"/>
                </a:solidFill>
                <a:latin typeface="Calibri"/>
              </a:rPr>
              <a:t>CSE440  ·  Section 01  ·  Group 01  ·  Summer 2026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2103120"/>
            <a:ext cx="11338560" cy="3886200"/>
          </a:xfrm>
          <a:prstGeom prst="rect">
            <a:avLst/>
          </a:prstGeom>
          <a:solidFill>
            <a:srgbClr val="1A1A20"/>
          </a:solidFill>
          <a:ln w="12700">
            <a:solidFill>
              <a:srgbClr val="323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286000"/>
            <a:ext cx="109728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50C878"/>
                </a:solidFill>
                <a:latin typeface="Consolas"/>
              </a:rPr>
              <a:t>$ whoami - introducing Group 01</a:t>
            </a:r>
          </a:p>
          <a:p>
            <a:pPr>
              <a:spcBef>
                <a:spcPts val="1000"/>
              </a:spcBef>
            </a:pPr>
            <a:r>
              <a:rPr sz="1800" b="1">
                <a:solidFill>
                  <a:srgbClr val="E6E6E6"/>
                </a:solidFill>
                <a:latin typeface="Calibri"/>
              </a:rPr>
              <a:t>  Mehedi Ashraf Simanto</a:t>
            </a:r>
          </a:p>
          <a:p>
            <a:r>
              <a:rPr sz="1400" b="0">
                <a:solidFill>
                  <a:srgbClr val="9696A0"/>
                </a:solidFill>
                <a:latin typeface="Consolas"/>
              </a:rPr>
              <a:t>     ID 2112085042   ·   Repo · main.py · README  [START + END]</a:t>
            </a:r>
          </a:p>
          <a:p>
            <a:pPr>
              <a:spcBef>
                <a:spcPts val="1000"/>
              </a:spcBef>
            </a:pPr>
            <a:r>
              <a:rPr sz="1800" b="1">
                <a:solidFill>
                  <a:srgbClr val="E6E6E6"/>
                </a:solidFill>
                <a:latin typeface="Calibri"/>
              </a:rPr>
              <a:t>  Abdur Rahman</a:t>
            </a:r>
          </a:p>
          <a:p>
            <a:r>
              <a:rPr sz="1400" b="0">
                <a:solidFill>
                  <a:srgbClr val="9696A0"/>
                </a:solidFill>
                <a:latin typeface="Consolas"/>
              </a:rPr>
              <a:t>     ID 2131641042   ·   Menu · player validation</a:t>
            </a:r>
          </a:p>
          <a:p>
            <a:pPr>
              <a:spcBef>
                <a:spcPts val="1000"/>
              </a:spcBef>
            </a:pPr>
            <a:r>
              <a:rPr sz="1800" b="1">
                <a:solidFill>
                  <a:srgbClr val="E6E6E6"/>
                </a:solidFill>
                <a:latin typeface="Calibri"/>
              </a:rPr>
              <a:t>  Md. Mazharul Islam Masum</a:t>
            </a:r>
          </a:p>
          <a:p>
            <a:r>
              <a:rPr sz="1400" b="0">
                <a:solidFill>
                  <a:srgbClr val="9696A0"/>
                </a:solidFill>
                <a:latin typeface="Consolas"/>
              </a:rPr>
              <a:t>     ID 2233562042   ·   Board · constants · win lines</a:t>
            </a:r>
          </a:p>
          <a:p>
            <a:pPr>
              <a:spcBef>
                <a:spcPts val="1000"/>
              </a:spcBef>
            </a:pPr>
            <a:r>
              <a:rPr sz="1800" b="1">
                <a:solidFill>
                  <a:srgbClr val="E6E6E6"/>
                </a:solidFill>
                <a:latin typeface="Calibri"/>
              </a:rPr>
              <a:t>  Mst. Fahmida Akter</a:t>
            </a:r>
          </a:p>
          <a:p>
            <a:r>
              <a:rPr sz="1400" b="0">
                <a:solidFill>
                  <a:srgbClr val="9696A0"/>
                </a:solidFill>
                <a:latin typeface="Consolas"/>
              </a:rPr>
              <a:t>     ID 2121534642   ·   AI · game loop · demo video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282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56032" y="155448"/>
            <a:ext cx="164592" cy="164592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2920" y="155448"/>
            <a:ext cx="164592" cy="164592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49808" y="155448"/>
            <a:ext cx="164592" cy="164592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73152"/>
            <a:ext cx="8686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9696A0"/>
                </a:solidFill>
                <a:latin typeface="Consolas"/>
              </a:rPr>
              <a:t>python  ·  goal.md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73152"/>
            <a:ext cx="3017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50C878"/>
                </a:solidFill>
                <a:latin typeface="Consolas"/>
              </a:rPr>
              <a:t>1/5  Mehedi START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C0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46520"/>
            <a:ext cx="12191695" cy="27432"/>
          </a:xfrm>
          <a:prstGeom prst="rect">
            <a:avLst/>
          </a:prstGeom>
          <a:solidFill>
            <a:srgbClr val="50C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510528"/>
            <a:ext cx="11612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9696A0"/>
                </a:solidFill>
                <a:latin typeface="Calibri"/>
              </a:rPr>
              <a:t>Group 01  |  Mehedi Ashraf Simanto  ·  Md. Mazharul Islam Masum  ·  Mst. Fahmida Akter  ·  Abdur Rahman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566928"/>
            <a:ext cx="11338560" cy="347472"/>
          </a:xfrm>
          <a:prstGeom prst="rect">
            <a:avLst/>
          </a:prstGeom>
          <a:solidFill>
            <a:srgbClr val="1A1A20"/>
          </a:solidFill>
          <a:ln w="12700">
            <a:solidFill>
              <a:srgbClr val="50C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585216"/>
            <a:ext cx="10972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50C878"/>
                </a:solidFill>
                <a:latin typeface="Consolas"/>
              </a:rPr>
              <a:t>SPEAKER  </a:t>
            </a:r>
            <a:r>
              <a:rPr sz="1400" b="1">
                <a:solidFill>
                  <a:srgbClr val="E6E6E6"/>
                </a:solidFill>
                <a:latin typeface="Calibri"/>
              </a:rPr>
              <a:t>Mehedi Ashraf Simanto   ·   goal + approach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051560"/>
            <a:ext cx="11338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50C878"/>
                </a:solidFill>
                <a:latin typeface="Consolas"/>
              </a:rPr>
              <a:t>&gt; </a:t>
            </a:r>
            <a:r>
              <a:rPr sz="2800" b="1">
                <a:solidFill>
                  <a:srgbClr val="E6E6E6"/>
                </a:solidFill>
                <a:latin typeface="Calibri"/>
              </a:rPr>
              <a:t>Goal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1554480"/>
            <a:ext cx="11338560" cy="4389120"/>
          </a:xfrm>
          <a:prstGeom prst="rect">
            <a:avLst/>
          </a:prstGeom>
          <a:solidFill>
            <a:srgbClr val="1A1A20"/>
          </a:solidFill>
          <a:ln w="12700">
            <a:solidFill>
              <a:srgbClr val="323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17830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50C878"/>
                </a:solidFill>
                <a:latin typeface="Consolas"/>
              </a:rPr>
              <a:t>&gt;  </a:t>
            </a:r>
            <a:r>
              <a:rPr sz="2000" b="0">
                <a:solidFill>
                  <a:srgbClr val="E6E6E6"/>
                </a:solidFill>
                <a:latin typeface="Calibri"/>
              </a:rPr>
              <a:t>Working console Tic-Tac-Toe in Python (stdlib only)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50C878"/>
                </a:solidFill>
                <a:latin typeface="Consolas"/>
              </a:rPr>
              <a:t>&gt;  </a:t>
            </a:r>
            <a:r>
              <a:rPr sz="2000" b="0">
                <a:solidFill>
                  <a:srgbClr val="E6E6E6"/>
                </a:solidFill>
                <a:latin typeface="Calibri"/>
              </a:rPr>
              <a:t>Two modes: vs AI and vs friend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50C878"/>
                </a:solidFill>
                <a:latin typeface="Consolas"/>
              </a:rPr>
              <a:t>&gt;  </a:t>
            </a:r>
            <a:r>
              <a:rPr sz="2000" b="0">
                <a:solidFill>
                  <a:srgbClr val="E6E6E6"/>
                </a:solidFill>
                <a:latin typeface="Calibri"/>
              </a:rPr>
              <a:t>Safe input - bad moves never skip a turn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50C878"/>
                </a:solidFill>
                <a:latin typeface="Consolas"/>
              </a:rPr>
              <a:t>&gt;  </a:t>
            </a:r>
            <a:r>
              <a:rPr sz="2000" b="0">
                <a:solidFill>
                  <a:srgbClr val="E6E6E6"/>
                </a:solidFill>
                <a:latin typeface="Calibri"/>
              </a:rPr>
              <a:t>Explainable AI - rules you can read in ai.py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50C878"/>
                </a:solidFill>
                <a:latin typeface="Consolas"/>
              </a:rPr>
              <a:t>&gt;  </a:t>
            </a:r>
            <a:r>
              <a:rPr sz="2000" b="0">
                <a:solidFill>
                  <a:srgbClr val="E6E6E6"/>
                </a:solidFill>
                <a:latin typeface="Calibri"/>
              </a:rPr>
              <a:t>GitHub history that shows semester teamwork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282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56032" y="155448"/>
            <a:ext cx="164592" cy="164592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2920" y="155448"/>
            <a:ext cx="164592" cy="164592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49808" y="155448"/>
            <a:ext cx="164592" cy="164592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73152"/>
            <a:ext cx="8686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9696A0"/>
                </a:solidFill>
                <a:latin typeface="Consolas"/>
              </a:rPr>
              <a:t>python  · 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73152"/>
            <a:ext cx="3017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50C878"/>
                </a:solidFill>
                <a:latin typeface="Consolas"/>
              </a:rPr>
              <a:t>1/5  Mehedi START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C0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46520"/>
            <a:ext cx="12191695" cy="27432"/>
          </a:xfrm>
          <a:prstGeom prst="rect">
            <a:avLst/>
          </a:prstGeom>
          <a:solidFill>
            <a:srgbClr val="50C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510528"/>
            <a:ext cx="11612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9696A0"/>
                </a:solidFill>
                <a:latin typeface="Calibri"/>
              </a:rPr>
              <a:t>Group 01  |  Mehedi Ashraf Simanto  ·  Md. Mazharul Islam Masum  ·  Mst. Fahmida Akter  ·  Abdur Rahman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566928"/>
            <a:ext cx="11338560" cy="347472"/>
          </a:xfrm>
          <a:prstGeom prst="rect">
            <a:avLst/>
          </a:prstGeom>
          <a:solidFill>
            <a:srgbClr val="1A1A20"/>
          </a:solidFill>
          <a:ln w="12700">
            <a:solidFill>
              <a:srgbClr val="50C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585216"/>
            <a:ext cx="10972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50C878"/>
                </a:solidFill>
                <a:latin typeface="Consolas"/>
              </a:rPr>
              <a:t>SPEAKER  </a:t>
            </a:r>
            <a:r>
              <a:rPr sz="1400" b="1">
                <a:solidFill>
                  <a:srgbClr val="E6E6E6"/>
                </a:solidFill>
                <a:latin typeface="Calibri"/>
              </a:rPr>
              <a:t>Mehedi Ashraf Simanto   ·   modular design + repo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051560"/>
            <a:ext cx="11338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50C878"/>
                </a:solidFill>
                <a:latin typeface="Consolas"/>
              </a:rPr>
              <a:t>&gt; </a:t>
            </a:r>
            <a:r>
              <a:rPr sz="2600" b="1">
                <a:solidFill>
                  <a:srgbClr val="E6E6E6"/>
                </a:solidFill>
                <a:latin typeface="Calibri"/>
              </a:rPr>
              <a:t>Approach - modular Python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1554480"/>
            <a:ext cx="5760720" cy="4389120"/>
          </a:xfrm>
          <a:prstGeom prst="rect">
            <a:avLst/>
          </a:prstGeom>
          <a:solidFill>
            <a:srgbClr val="1A1A20"/>
          </a:solidFill>
          <a:ln w="12700">
            <a:solidFill>
              <a:srgbClr val="323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178308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 b="0">
                <a:solidFill>
                  <a:srgbClr val="50C878"/>
                </a:solidFill>
                <a:latin typeface="Consolas"/>
              </a:rPr>
              <a:t>&gt;  </a:t>
            </a:r>
            <a:r>
              <a:rPr sz="1700" b="0">
                <a:solidFill>
                  <a:srgbClr val="E6E6E6"/>
                </a:solidFill>
                <a:latin typeface="Calibri"/>
              </a:rPr>
              <a:t>main.py starts -&gt; menu -&gt; game loop</a:t>
            </a:r>
          </a:p>
          <a:p>
            <a:pPr>
              <a:spcAft>
                <a:spcPts val="1200"/>
              </a:spcAft>
            </a:pPr>
            <a:r>
              <a:rPr sz="1700" b="0">
                <a:solidFill>
                  <a:srgbClr val="50C878"/>
                </a:solidFill>
                <a:latin typeface="Consolas"/>
              </a:rPr>
              <a:t>&gt;  </a:t>
            </a:r>
            <a:r>
              <a:rPr sz="1700" b="0">
                <a:solidFill>
                  <a:srgbClr val="E6E6E6"/>
                </a:solidFill>
                <a:latin typeface="Calibri"/>
              </a:rPr>
              <a:t>support/ = board · player · AI · game</a:t>
            </a:r>
          </a:p>
          <a:p>
            <a:pPr>
              <a:spcAft>
                <a:spcPts val="1200"/>
              </a:spcAft>
            </a:pPr>
            <a:r>
              <a:rPr sz="1700" b="0">
                <a:solidFill>
                  <a:srgbClr val="50C878"/>
                </a:solidFill>
                <a:latin typeface="Consolas"/>
              </a:rPr>
              <a:t>&gt;  </a:t>
            </a:r>
            <a:r>
              <a:rPr sz="1700" b="0">
                <a:solidFill>
                  <a:srgbClr val="E6E6E6"/>
                </a:solidFill>
                <a:latin typeface="Calibri"/>
              </a:rPr>
              <a:t>Flat list [0..8] maps spots 1-9</a:t>
            </a:r>
          </a:p>
          <a:p>
            <a:pPr>
              <a:spcAft>
                <a:spcPts val="1200"/>
              </a:spcAft>
            </a:pPr>
            <a:r>
              <a:rPr sz="1700" b="0">
                <a:solidFill>
                  <a:srgbClr val="50C878"/>
                </a:solidFill>
                <a:latin typeface="Consolas"/>
              </a:rPr>
              <a:t>&gt;  </a:t>
            </a:r>
            <a:r>
              <a:rPr sz="1700" b="0">
                <a:solidFill>
                  <a:srgbClr val="E6E6E6"/>
                </a:solidFill>
                <a:latin typeface="Calibri"/>
              </a:rPr>
              <a:t>Next: each member covers their full part once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1554480"/>
            <a:ext cx="5486400" cy="4389120"/>
          </a:xfrm>
          <a:prstGeom prst="rect">
            <a:avLst/>
          </a:prstGeom>
          <a:solidFill>
            <a:srgbClr val="1A1A20"/>
          </a:solidFill>
          <a:ln w="12700">
            <a:solidFill>
              <a:srgbClr val="323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15_repo_stru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737360"/>
            <a:ext cx="5212080" cy="3399183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02920" y="598932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3A8F58"/>
                </a:solidFill>
                <a:latin typeface="Consolas"/>
              </a:rPr>
              <a:t>// </a:t>
            </a:r>
            <a:r>
              <a:rPr sz="1200" b="0">
                <a:solidFill>
                  <a:srgbClr val="9696A0"/>
                </a:solidFill>
                <a:latin typeface="Calibri"/>
              </a:rPr>
              <a:t>Mehedi hands over to Abdur Rahman (no return until the end).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282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56032" y="155448"/>
            <a:ext cx="164592" cy="164592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2920" y="155448"/>
            <a:ext cx="164592" cy="164592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49808" y="155448"/>
            <a:ext cx="164592" cy="164592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73152"/>
            <a:ext cx="8686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9696A0"/>
                </a:solidFill>
                <a:latin typeface="Consolas"/>
              </a:rPr>
              <a:t>python  ·  support/menu.py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73152"/>
            <a:ext cx="3017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50C878"/>
                </a:solidFill>
                <a:latin typeface="Consolas"/>
              </a:rPr>
              <a:t>2/5  Abdur Rahman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C0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46520"/>
            <a:ext cx="12191695" cy="27432"/>
          </a:xfrm>
          <a:prstGeom prst="rect">
            <a:avLst/>
          </a:prstGeom>
          <a:solidFill>
            <a:srgbClr val="50C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510528"/>
            <a:ext cx="11612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9696A0"/>
                </a:solidFill>
                <a:latin typeface="Calibri"/>
              </a:rPr>
              <a:t>Group 01  |  Mehedi Ashraf Simanto  ·  Md. Mazharul Islam Masum  ·  Mst. Fahmida Akter  ·  Abdur Rahman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566928"/>
            <a:ext cx="11338560" cy="347472"/>
          </a:xfrm>
          <a:prstGeom prst="rect">
            <a:avLst/>
          </a:prstGeom>
          <a:solidFill>
            <a:srgbClr val="1A1A20"/>
          </a:solidFill>
          <a:ln w="12700">
            <a:solidFill>
              <a:srgbClr val="FFB4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585216"/>
            <a:ext cx="10972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B446"/>
                </a:solidFill>
                <a:latin typeface="Consolas"/>
              </a:rPr>
              <a:t>SPEAKER  </a:t>
            </a:r>
            <a:r>
              <a:rPr sz="1400" b="1">
                <a:solidFill>
                  <a:srgbClr val="E6E6E6"/>
                </a:solidFill>
                <a:latin typeface="Calibri"/>
              </a:rPr>
              <a:t>Abdur Rahman   ·   menu · modes · validation · player.py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051560"/>
            <a:ext cx="11338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50C878"/>
                </a:solidFill>
                <a:latin typeface="Consolas"/>
              </a:rPr>
              <a:t>&gt; </a:t>
            </a:r>
            <a:r>
              <a:rPr sz="2600" b="1">
                <a:solidFill>
                  <a:srgbClr val="E6E6E6"/>
                </a:solidFill>
                <a:latin typeface="Calibri"/>
              </a:rPr>
              <a:t>Modes &amp; Menu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1508760"/>
            <a:ext cx="5669280" cy="4160520"/>
          </a:xfrm>
          <a:prstGeom prst="rect">
            <a:avLst/>
          </a:prstGeom>
          <a:solidFill>
            <a:srgbClr val="1A1A20"/>
          </a:solidFill>
          <a:ln w="12700">
            <a:solidFill>
              <a:srgbClr val="323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1508760"/>
            <a:ext cx="5669280" cy="4160520"/>
          </a:xfrm>
          <a:prstGeom prst="rect">
            <a:avLst/>
          </a:prstGeom>
          <a:solidFill>
            <a:srgbClr val="1A1A20"/>
          </a:solidFill>
          <a:ln w="12700">
            <a:solidFill>
              <a:srgbClr val="323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01_main_men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18488"/>
            <a:ext cx="5394960" cy="3283889"/>
          </a:xfrm>
          <a:prstGeom prst="rect">
            <a:avLst/>
          </a:prstGeom>
        </p:spPr>
      </p:pic>
      <p:pic>
        <p:nvPicPr>
          <p:cNvPr id="18" name="Picture 17" descr="04_mode1_vs_a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618488"/>
            <a:ext cx="5394960" cy="3283889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57200" y="5349240"/>
            <a:ext cx="5394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9696A0"/>
                </a:solidFill>
                <a:latin typeface="Consolas"/>
              </a:rPr>
              <a:t>menu [1] / [2]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5349240"/>
            <a:ext cx="5394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9696A0"/>
                </a:solidFill>
                <a:latin typeface="Consolas"/>
              </a:rPr>
              <a:t>mode 1 · You=X AI=O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282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56032" y="155448"/>
            <a:ext cx="164592" cy="164592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2920" y="155448"/>
            <a:ext cx="164592" cy="164592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49808" y="155448"/>
            <a:ext cx="164592" cy="164592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73152"/>
            <a:ext cx="8686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9696A0"/>
                </a:solidFill>
                <a:latin typeface="Consolas"/>
              </a:rPr>
              <a:t>python  ·  support/menu.py + player.py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73152"/>
            <a:ext cx="3017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50C878"/>
                </a:solidFill>
                <a:latin typeface="Consolas"/>
              </a:rPr>
              <a:t>2/5  Abdur Rahman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C0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46520"/>
            <a:ext cx="12191695" cy="27432"/>
          </a:xfrm>
          <a:prstGeom prst="rect">
            <a:avLst/>
          </a:prstGeom>
          <a:solidFill>
            <a:srgbClr val="50C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510528"/>
            <a:ext cx="11612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9696A0"/>
                </a:solidFill>
                <a:latin typeface="Calibri"/>
              </a:rPr>
              <a:t>Group 01  |  Mehedi Ashraf Simanto  ·  Md. Mazharul Islam Masum  ·  Mst. Fahmida Akter  ·  Abdur Rahman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566928"/>
            <a:ext cx="11338560" cy="347472"/>
          </a:xfrm>
          <a:prstGeom prst="rect">
            <a:avLst/>
          </a:prstGeom>
          <a:solidFill>
            <a:srgbClr val="1A1A20"/>
          </a:solidFill>
          <a:ln w="12700">
            <a:solidFill>
              <a:srgbClr val="FFB4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585216"/>
            <a:ext cx="10972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B446"/>
                </a:solidFill>
                <a:latin typeface="Consolas"/>
              </a:rPr>
              <a:t>SPEAKER  </a:t>
            </a:r>
            <a:r>
              <a:rPr sz="1400" b="1">
                <a:solidFill>
                  <a:srgbClr val="E6E6E6"/>
                </a:solidFill>
                <a:latin typeface="Calibri"/>
              </a:rPr>
              <a:t>Abdur Rahman   ·   2-player mode + invalid input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051560"/>
            <a:ext cx="11338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50C878"/>
                </a:solidFill>
                <a:latin typeface="Consolas"/>
              </a:rPr>
              <a:t>&gt; </a:t>
            </a:r>
            <a:r>
              <a:rPr sz="2400" b="1">
                <a:solidFill>
                  <a:srgbClr val="E6E6E6"/>
                </a:solidFill>
                <a:latin typeface="Calibri"/>
              </a:rPr>
              <a:t>Two-Player Mode &amp; Validation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1508760"/>
            <a:ext cx="5669280" cy="4160520"/>
          </a:xfrm>
          <a:prstGeom prst="rect">
            <a:avLst/>
          </a:prstGeom>
          <a:solidFill>
            <a:srgbClr val="1A1A20"/>
          </a:solidFill>
          <a:ln w="12700">
            <a:solidFill>
              <a:srgbClr val="323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1508760"/>
            <a:ext cx="5669280" cy="4160520"/>
          </a:xfrm>
          <a:prstGeom prst="rect">
            <a:avLst/>
          </a:prstGeom>
          <a:solidFill>
            <a:srgbClr val="1A1A20"/>
          </a:solidFill>
          <a:ln w="12700">
            <a:solidFill>
              <a:srgbClr val="323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05_mode2_vs_fri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18488"/>
            <a:ext cx="5394960" cy="3283889"/>
          </a:xfrm>
          <a:prstGeom prst="rect">
            <a:avLst/>
          </a:prstGeom>
        </p:spPr>
      </p:pic>
      <p:pic>
        <p:nvPicPr>
          <p:cNvPr id="18" name="Picture 17" descr="02_invalid_men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618488"/>
            <a:ext cx="5394960" cy="3283889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57200" y="5349240"/>
            <a:ext cx="5394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9696A0"/>
                </a:solidFill>
                <a:latin typeface="Consolas"/>
              </a:rPr>
              <a:t>mode 2 · P1=X P2=O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5349240"/>
            <a:ext cx="5394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9696A0"/>
                </a:solidFill>
                <a:latin typeface="Consolas"/>
              </a:rPr>
              <a:t>invalid menu -&gt; re-prompt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282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56032" y="155448"/>
            <a:ext cx="164592" cy="164592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2920" y="155448"/>
            <a:ext cx="164592" cy="164592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49808" y="155448"/>
            <a:ext cx="164592" cy="164592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73152"/>
            <a:ext cx="8686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9696A0"/>
                </a:solidFill>
                <a:latin typeface="Consolas"/>
              </a:rPr>
              <a:t>python  ·  support/player.py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73152"/>
            <a:ext cx="3017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50C878"/>
                </a:solidFill>
                <a:latin typeface="Consolas"/>
              </a:rPr>
              <a:t>2/5  Abdur Rahman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C0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46520"/>
            <a:ext cx="12191695" cy="27432"/>
          </a:xfrm>
          <a:prstGeom prst="rect">
            <a:avLst/>
          </a:prstGeom>
          <a:solidFill>
            <a:srgbClr val="50C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510528"/>
            <a:ext cx="11612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9696A0"/>
                </a:solidFill>
                <a:latin typeface="Calibri"/>
              </a:rPr>
              <a:t>Group 01  |  Mehedi Ashraf Simanto  ·  Md. Mazharul Islam Masum  ·  Mst. Fahmida Akter  ·  Abdur Rahman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566928"/>
            <a:ext cx="11338560" cy="347472"/>
          </a:xfrm>
          <a:prstGeom prst="rect">
            <a:avLst/>
          </a:prstGeom>
          <a:solidFill>
            <a:srgbClr val="1A1A20"/>
          </a:solidFill>
          <a:ln w="12700">
            <a:solidFill>
              <a:srgbClr val="FFB4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585216"/>
            <a:ext cx="10972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B446"/>
                </a:solidFill>
                <a:latin typeface="Consolas"/>
              </a:rPr>
              <a:t>SPEAKER  </a:t>
            </a:r>
            <a:r>
              <a:rPr sz="1400" b="1">
                <a:solidFill>
                  <a:srgbClr val="E6E6E6"/>
                </a:solidFill>
                <a:latin typeface="Calibri"/>
              </a:rPr>
              <a:t>Abdur Rahman   ·   move validation - never lose a turn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051560"/>
            <a:ext cx="11338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50C878"/>
                </a:solidFill>
                <a:latin typeface="Consolas"/>
              </a:rPr>
              <a:t>&gt; </a:t>
            </a:r>
            <a:r>
              <a:rPr sz="2600" b="1">
                <a:solidFill>
                  <a:srgbClr val="E6E6E6"/>
                </a:solidFill>
                <a:latin typeface="Calibri"/>
              </a:rPr>
              <a:t>Player Input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554480" y="1554480"/>
            <a:ext cx="9052560" cy="4114800"/>
          </a:xfrm>
          <a:prstGeom prst="rect">
            <a:avLst/>
          </a:prstGeom>
          <a:solidFill>
            <a:srgbClr val="1A1A20"/>
          </a:solidFill>
          <a:ln w="12700">
            <a:solidFill>
              <a:srgbClr val="323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07_invalid_occupied_inp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691640"/>
            <a:ext cx="8503920" cy="517629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02920" y="598932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3A8F58"/>
                </a:solidFill>
                <a:latin typeface="Consolas"/>
              </a:rPr>
              <a:t>// </a:t>
            </a:r>
            <a:r>
              <a:rPr sz="1200" b="0">
                <a:solidFill>
                  <a:srgbClr val="9696A0"/>
                </a:solidFill>
                <a:latin typeface="Calibri"/>
              </a:rPr>
              <a:t>GitHub while speaking: main.py (entry) · menu.py · player.py  -&gt; then hand to Masum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282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56032" y="155448"/>
            <a:ext cx="164592" cy="164592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2920" y="155448"/>
            <a:ext cx="164592" cy="164592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49808" y="155448"/>
            <a:ext cx="164592" cy="164592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73152"/>
            <a:ext cx="8686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9696A0"/>
                </a:solidFill>
                <a:latin typeface="Consolas"/>
              </a:rPr>
              <a:t>python  ·  support/board.py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73152"/>
            <a:ext cx="3017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50C878"/>
                </a:solidFill>
                <a:latin typeface="Consolas"/>
              </a:rPr>
              <a:t>3/5  Masum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C0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46520"/>
            <a:ext cx="12191695" cy="27432"/>
          </a:xfrm>
          <a:prstGeom prst="rect">
            <a:avLst/>
          </a:prstGeom>
          <a:solidFill>
            <a:srgbClr val="50C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510528"/>
            <a:ext cx="11612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9696A0"/>
                </a:solidFill>
                <a:latin typeface="Calibri"/>
              </a:rPr>
              <a:t>Group 01  |  Mehedi Ashraf Simanto  ·  Md. Mazharul Islam Masum  ·  Mst. Fahmida Akter  ·  Abdur Rahman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566928"/>
            <a:ext cx="11338560" cy="347472"/>
          </a:xfrm>
          <a:prstGeom prst="rect">
            <a:avLst/>
          </a:prstGeom>
          <a:solidFill>
            <a:srgbClr val="1A1A20"/>
          </a:solidFill>
          <a:ln w="12700">
            <a:solidFill>
              <a:srgbClr val="5A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585216"/>
            <a:ext cx="10972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5AB4FF"/>
                </a:solidFill>
                <a:latin typeface="Consolas"/>
              </a:rPr>
              <a:t>SPEAKER  </a:t>
            </a:r>
            <a:r>
              <a:rPr sz="1400" b="1">
                <a:solidFill>
                  <a:srgbClr val="E6E6E6"/>
                </a:solidFill>
                <a:latin typeface="Calibri"/>
              </a:rPr>
              <a:t>Md. Mazharul Islam Masum   ·   board · rows · columns · constants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051560"/>
            <a:ext cx="11338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50C878"/>
                </a:solidFill>
                <a:latin typeface="Consolas"/>
              </a:rPr>
              <a:t>&gt; </a:t>
            </a:r>
            <a:r>
              <a:rPr sz="2600" b="1">
                <a:solidFill>
                  <a:srgbClr val="E6E6E6"/>
                </a:solidFill>
                <a:latin typeface="Calibri"/>
              </a:rPr>
              <a:t>Board Display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1508760"/>
            <a:ext cx="5669280" cy="4160520"/>
          </a:xfrm>
          <a:prstGeom prst="rect">
            <a:avLst/>
          </a:prstGeom>
          <a:solidFill>
            <a:srgbClr val="1A1A20"/>
          </a:solidFill>
          <a:ln w="12700">
            <a:solidFill>
              <a:srgbClr val="323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1508760"/>
            <a:ext cx="5669280" cy="4160520"/>
          </a:xfrm>
          <a:prstGeom prst="rect">
            <a:avLst/>
          </a:prstGeom>
          <a:solidFill>
            <a:srgbClr val="1A1A20"/>
          </a:solidFill>
          <a:ln w="12700">
            <a:solidFill>
              <a:srgbClr val="323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03_empty_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18488"/>
            <a:ext cx="5394960" cy="3283889"/>
          </a:xfrm>
          <a:prstGeom prst="rect">
            <a:avLst/>
          </a:prstGeom>
        </p:spPr>
      </p:pic>
      <p:pic>
        <p:nvPicPr>
          <p:cNvPr id="18" name="Picture 17" descr="06_midgame_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618488"/>
            <a:ext cx="5394960" cy="3283889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57200" y="5349240"/>
            <a:ext cx="5394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9696A0"/>
                </a:solidFill>
                <a:latin typeface="Consolas"/>
              </a:rPr>
              <a:t>numbered empty board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5349240"/>
            <a:ext cx="5394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9696A0"/>
                </a:solidFill>
                <a:latin typeface="Consolas"/>
              </a:rPr>
              <a:t>mid-game board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282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56032" y="155448"/>
            <a:ext cx="164592" cy="164592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2920" y="155448"/>
            <a:ext cx="164592" cy="164592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49808" y="155448"/>
            <a:ext cx="164592" cy="164592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73152"/>
            <a:ext cx="8686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9696A0"/>
                </a:solidFill>
                <a:latin typeface="Consolas"/>
              </a:rPr>
              <a:t>python  ·  check_winner()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73152"/>
            <a:ext cx="3017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50C878"/>
                </a:solidFill>
                <a:latin typeface="Consolas"/>
              </a:rPr>
              <a:t>3/5  Masum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C0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46520"/>
            <a:ext cx="12191695" cy="27432"/>
          </a:xfrm>
          <a:prstGeom prst="rect">
            <a:avLst/>
          </a:prstGeom>
          <a:solidFill>
            <a:srgbClr val="50C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510528"/>
            <a:ext cx="11612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9696A0"/>
                </a:solidFill>
                <a:latin typeface="Calibri"/>
              </a:rPr>
              <a:t>Group 01  |  Mehedi Ashraf Simanto  ·  Md. Mazharul Islam Masum  ·  Mst. Fahmida Akter  ·  Abdur Rahman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566928"/>
            <a:ext cx="11338560" cy="347472"/>
          </a:xfrm>
          <a:prstGeom prst="rect">
            <a:avLst/>
          </a:prstGeom>
          <a:solidFill>
            <a:srgbClr val="1A1A20"/>
          </a:solidFill>
          <a:ln w="12700">
            <a:solidFill>
              <a:srgbClr val="5A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585216"/>
            <a:ext cx="10972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5AB4FF"/>
                </a:solidFill>
                <a:latin typeface="Consolas"/>
              </a:rPr>
              <a:t>SPEAKER  </a:t>
            </a:r>
            <a:r>
              <a:rPr sz="1400" b="1">
                <a:solidFill>
                  <a:srgbClr val="E6E6E6"/>
                </a:solidFill>
                <a:latin typeface="Calibri"/>
              </a:rPr>
              <a:t>Md. Mazharul Islam Masum   ·   win lines - row / column / diagonal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051560"/>
            <a:ext cx="11338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50C878"/>
                </a:solidFill>
                <a:latin typeface="Consolas"/>
              </a:rPr>
              <a:t>&gt; </a:t>
            </a:r>
            <a:r>
              <a:rPr sz="2600" b="1">
                <a:solidFill>
                  <a:srgbClr val="E6E6E6"/>
                </a:solidFill>
                <a:latin typeface="Calibri"/>
              </a:rPr>
              <a:t>Win Detection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1508760"/>
            <a:ext cx="3749039" cy="4114800"/>
          </a:xfrm>
          <a:prstGeom prst="rect">
            <a:avLst/>
          </a:prstGeom>
          <a:solidFill>
            <a:srgbClr val="1A1A20"/>
          </a:solidFill>
          <a:ln w="12700">
            <a:solidFill>
              <a:srgbClr val="323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08_win_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" y="1645920"/>
            <a:ext cx="3520440" cy="2142877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29768" y="5394960"/>
            <a:ext cx="3520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9696A0"/>
                </a:solidFill>
                <a:latin typeface="Consolas"/>
              </a:rPr>
              <a:t>row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51959" y="1508760"/>
            <a:ext cx="3749039" cy="4114800"/>
          </a:xfrm>
          <a:prstGeom prst="rect">
            <a:avLst/>
          </a:prstGeom>
          <a:solidFill>
            <a:srgbClr val="1A1A20"/>
          </a:solidFill>
          <a:ln w="12700">
            <a:solidFill>
              <a:srgbClr val="323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09_win_colum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1688" y="1645920"/>
            <a:ext cx="3520440" cy="2142877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361688" y="5394960"/>
            <a:ext cx="3520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9696A0"/>
                </a:solidFill>
                <a:latin typeface="Consolas"/>
              </a:rPr>
              <a:t>column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83879" y="1508760"/>
            <a:ext cx="3749039" cy="4114800"/>
          </a:xfrm>
          <a:prstGeom prst="rect">
            <a:avLst/>
          </a:prstGeom>
          <a:solidFill>
            <a:srgbClr val="1A1A20"/>
          </a:solidFill>
          <a:ln w="12700">
            <a:solidFill>
              <a:srgbClr val="323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10_win_diagon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3607" y="1645920"/>
            <a:ext cx="3520440" cy="2142877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293607" y="5394960"/>
            <a:ext cx="3520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9696A0"/>
                </a:solidFill>
                <a:latin typeface="Consolas"/>
              </a:rPr>
              <a:t>diagonal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598932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3A8F58"/>
                </a:solidFill>
                <a:latin typeface="Consolas"/>
              </a:rPr>
              <a:t>// </a:t>
            </a:r>
            <a:r>
              <a:rPr sz="1200" b="0">
                <a:solidFill>
                  <a:srgbClr val="9696A0"/>
                </a:solidFill>
                <a:latin typeface="Calibri"/>
              </a:rPr>
              <a:t>GitHub while speaking: constants.py · board.py  -&gt; then hand to Fahmida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282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56032" y="155448"/>
            <a:ext cx="164592" cy="164592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2920" y="155448"/>
            <a:ext cx="164592" cy="164592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49808" y="155448"/>
            <a:ext cx="164592" cy="164592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73152"/>
            <a:ext cx="8686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9696A0"/>
                </a:solidFill>
                <a:latin typeface="Consolas"/>
              </a:rPr>
              <a:t>python  ·  end_game()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73152"/>
            <a:ext cx="3017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50C878"/>
                </a:solidFill>
                <a:latin typeface="Consolas"/>
              </a:rPr>
              <a:t>4/5  Fahmida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C0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46520"/>
            <a:ext cx="12191695" cy="27432"/>
          </a:xfrm>
          <a:prstGeom prst="rect">
            <a:avLst/>
          </a:prstGeom>
          <a:solidFill>
            <a:srgbClr val="50C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510528"/>
            <a:ext cx="11612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9696A0"/>
                </a:solidFill>
                <a:latin typeface="Calibri"/>
              </a:rPr>
              <a:t>Group 01  |  Mehedi Ashraf Simanto  ·  Md. Mazharul Islam Masum  ·  Mst. Fahmida Akter  ·  Abdur Rahman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566928"/>
            <a:ext cx="11338560" cy="347472"/>
          </a:xfrm>
          <a:prstGeom prst="rect">
            <a:avLst/>
          </a:prstGeom>
          <a:solidFill>
            <a:srgbClr val="1A1A20"/>
          </a:solidFill>
          <a:ln w="12700">
            <a:solidFill>
              <a:srgbClr val="FF8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585216"/>
            <a:ext cx="10972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8C64"/>
                </a:solidFill>
                <a:latin typeface="Consolas"/>
              </a:rPr>
              <a:t>SPEAKER  </a:t>
            </a:r>
            <a:r>
              <a:rPr sz="1400" b="1">
                <a:solidFill>
                  <a:srgbClr val="E6E6E6"/>
                </a:solidFill>
                <a:latin typeface="Calibri"/>
              </a:rPr>
              <a:t>Mst. Fahmida Akter   ·   end states · AI · game loop · video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051560"/>
            <a:ext cx="11338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50C878"/>
                </a:solidFill>
                <a:latin typeface="Consolas"/>
              </a:rPr>
              <a:t>&gt; </a:t>
            </a:r>
            <a:r>
              <a:rPr sz="2400" b="1">
                <a:solidFill>
                  <a:srgbClr val="E6E6E6"/>
                </a:solidFill>
                <a:latin typeface="Calibri"/>
              </a:rPr>
              <a:t>End States - Draw / Lose / AI Win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1508760"/>
            <a:ext cx="5669280" cy="4160520"/>
          </a:xfrm>
          <a:prstGeom prst="rect">
            <a:avLst/>
          </a:prstGeom>
          <a:solidFill>
            <a:srgbClr val="1A1A20"/>
          </a:solidFill>
          <a:ln w="12700">
            <a:solidFill>
              <a:srgbClr val="323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1508760"/>
            <a:ext cx="5669280" cy="4160520"/>
          </a:xfrm>
          <a:prstGeom prst="rect">
            <a:avLst/>
          </a:prstGeom>
          <a:solidFill>
            <a:srgbClr val="1A1A20"/>
          </a:solidFill>
          <a:ln w="12700">
            <a:solidFill>
              <a:srgbClr val="323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12_draw_t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18488"/>
            <a:ext cx="5394960" cy="3283889"/>
          </a:xfrm>
          <a:prstGeom prst="rect">
            <a:avLst/>
          </a:prstGeom>
        </p:spPr>
      </p:pic>
      <p:pic>
        <p:nvPicPr>
          <p:cNvPr id="18" name="Picture 17" descr="11_ai_win_human_lo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618488"/>
            <a:ext cx="5394960" cy="3283889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57200" y="5349240"/>
            <a:ext cx="5394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9696A0"/>
                </a:solidFill>
                <a:latin typeface="Consolas"/>
              </a:rPr>
              <a:t>draw / tie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5349240"/>
            <a:ext cx="5394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9696A0"/>
                </a:solidFill>
                <a:latin typeface="Consolas"/>
              </a:rPr>
              <a:t>AI wins / human lose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282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56032" y="155448"/>
            <a:ext cx="164592" cy="164592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2920" y="155448"/>
            <a:ext cx="164592" cy="164592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49808" y="155448"/>
            <a:ext cx="164592" cy="164592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73152"/>
            <a:ext cx="8686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9696A0"/>
                </a:solidFill>
                <a:latin typeface="Consolas"/>
              </a:rPr>
              <a:t>python  ·  support/ai.py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73152"/>
            <a:ext cx="3017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50C878"/>
                </a:solidFill>
                <a:latin typeface="Consolas"/>
              </a:rPr>
              <a:t>4/5  Fahmida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C0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46520"/>
            <a:ext cx="12191695" cy="27432"/>
          </a:xfrm>
          <a:prstGeom prst="rect">
            <a:avLst/>
          </a:prstGeom>
          <a:solidFill>
            <a:srgbClr val="50C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510528"/>
            <a:ext cx="11612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9696A0"/>
                </a:solidFill>
                <a:latin typeface="Calibri"/>
              </a:rPr>
              <a:t>Group 01  |  Mehedi Ashraf Simanto  ·  Md. Mazharul Islam Masum  ·  Mst. Fahmida Akter  ·  Abdur Rahman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566928"/>
            <a:ext cx="11338560" cy="347472"/>
          </a:xfrm>
          <a:prstGeom prst="rect">
            <a:avLst/>
          </a:prstGeom>
          <a:solidFill>
            <a:srgbClr val="1A1A20"/>
          </a:solidFill>
          <a:ln w="12700">
            <a:solidFill>
              <a:srgbClr val="FF8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585216"/>
            <a:ext cx="10972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8C64"/>
                </a:solidFill>
                <a:latin typeface="Consolas"/>
              </a:rPr>
              <a:t>SPEAKER  </a:t>
            </a:r>
            <a:r>
              <a:rPr sz="1400" b="1">
                <a:solidFill>
                  <a:srgbClr val="E6E6E6"/>
                </a:solidFill>
                <a:latin typeface="Calibri"/>
              </a:rPr>
              <a:t>Mst. Fahmida Akter   ·   rule-based AI priorities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051560"/>
            <a:ext cx="11338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50C878"/>
                </a:solidFill>
                <a:latin typeface="Consolas"/>
              </a:rPr>
              <a:t>&gt; </a:t>
            </a:r>
            <a:r>
              <a:rPr sz="2600" b="1">
                <a:solidFill>
                  <a:srgbClr val="E6E6E6"/>
                </a:solidFill>
                <a:latin typeface="Calibri"/>
              </a:rPr>
              <a:t>Rule-Based AI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1463040"/>
            <a:ext cx="5669280" cy="4160520"/>
          </a:xfrm>
          <a:prstGeom prst="rect">
            <a:avLst/>
          </a:prstGeom>
          <a:solidFill>
            <a:srgbClr val="1A1A20"/>
          </a:solidFill>
          <a:ln w="12700">
            <a:solidFill>
              <a:srgbClr val="323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1463040"/>
            <a:ext cx="5669280" cy="4160520"/>
          </a:xfrm>
          <a:prstGeom prst="rect">
            <a:avLst/>
          </a:prstGeom>
          <a:solidFill>
            <a:srgbClr val="1A1A20"/>
          </a:solidFill>
          <a:ln w="12700">
            <a:solidFill>
              <a:srgbClr val="323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13_ai_center_mo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72768"/>
            <a:ext cx="5394960" cy="3283889"/>
          </a:xfrm>
          <a:prstGeom prst="rect">
            <a:avLst/>
          </a:prstGeom>
        </p:spPr>
      </p:pic>
      <p:pic>
        <p:nvPicPr>
          <p:cNvPr id="18" name="Picture 17" descr="14_ai_blo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572768"/>
            <a:ext cx="5394960" cy="3283889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57200" y="5303520"/>
            <a:ext cx="5394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9696A0"/>
                </a:solidFill>
                <a:latin typeface="Consolas"/>
              </a:rPr>
              <a:t>priority 3 · center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5303520"/>
            <a:ext cx="5394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9696A0"/>
                </a:solidFill>
                <a:latin typeface="Consolas"/>
              </a:rPr>
              <a:t>priority 2 · block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98932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3A8F58"/>
                </a:solidFill>
                <a:latin typeface="Consolas"/>
              </a:rPr>
              <a:t>// </a:t>
            </a:r>
            <a:r>
              <a:rPr sz="1200" b="0">
                <a:solidFill>
                  <a:srgbClr val="9696A0"/>
                </a:solidFill>
                <a:latin typeface="Calibri"/>
              </a:rPr>
              <a:t>1) Win  2) Block  3) Center  4) Random   ·  GitHub: ai.py · game.py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282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56032" y="155448"/>
            <a:ext cx="164592" cy="164592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2920" y="155448"/>
            <a:ext cx="164592" cy="164592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49808" y="155448"/>
            <a:ext cx="164592" cy="164592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73152"/>
            <a:ext cx="8686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9696A0"/>
                </a:solidFill>
                <a:latin typeface="Consolas"/>
              </a:rPr>
              <a:t>python  ·  others/CSE440_Project_Video.mp4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73152"/>
            <a:ext cx="3017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50C878"/>
                </a:solidFill>
                <a:latin typeface="Consolas"/>
              </a:rPr>
              <a:t>4/5  Fahmida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C0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46520"/>
            <a:ext cx="12191695" cy="27432"/>
          </a:xfrm>
          <a:prstGeom prst="rect">
            <a:avLst/>
          </a:prstGeom>
          <a:solidFill>
            <a:srgbClr val="50C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510528"/>
            <a:ext cx="11612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9696A0"/>
                </a:solidFill>
                <a:latin typeface="Calibri"/>
              </a:rPr>
              <a:t>Group 01  |  Mehedi Ashraf Simanto  ·  Md. Mazharul Islam Masum  ·  Mst. Fahmida Akter  ·  Abdur Rahman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566928"/>
            <a:ext cx="11338560" cy="347472"/>
          </a:xfrm>
          <a:prstGeom prst="rect">
            <a:avLst/>
          </a:prstGeom>
          <a:solidFill>
            <a:srgbClr val="1A1A20"/>
          </a:solidFill>
          <a:ln w="12700">
            <a:solidFill>
              <a:srgbClr val="FF8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585216"/>
            <a:ext cx="10972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8C64"/>
                </a:solidFill>
                <a:latin typeface="Consolas"/>
              </a:rPr>
              <a:t>SPEAKER  </a:t>
            </a:r>
            <a:r>
              <a:rPr sz="1400" b="1">
                <a:solidFill>
                  <a:srgbClr val="E6E6E6"/>
                </a:solidFill>
                <a:latin typeface="Calibri"/>
              </a:rPr>
              <a:t>Mst. Fahmida Akter   ·   plays the 1-minute demo video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051560"/>
            <a:ext cx="11338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50C878"/>
                </a:solidFill>
                <a:latin typeface="Consolas"/>
              </a:rPr>
              <a:t>&gt; </a:t>
            </a:r>
            <a:r>
              <a:rPr sz="2600" b="1">
                <a:solidFill>
                  <a:srgbClr val="E6E6E6"/>
                </a:solidFill>
                <a:latin typeface="Calibri"/>
              </a:rPr>
              <a:t>1-minute demo video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1554480"/>
            <a:ext cx="5852160" cy="4389120"/>
          </a:xfrm>
          <a:prstGeom prst="rect">
            <a:avLst/>
          </a:prstGeom>
          <a:solidFill>
            <a:srgbClr val="1A1A20"/>
          </a:solidFill>
          <a:ln w="12700">
            <a:solidFill>
              <a:srgbClr val="323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18288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 b="0">
                <a:solidFill>
                  <a:srgbClr val="50C878"/>
                </a:solidFill>
                <a:latin typeface="Consolas"/>
              </a:rPr>
              <a:t>&gt;  </a:t>
            </a:r>
            <a:r>
              <a:rPr sz="1800" b="0">
                <a:solidFill>
                  <a:srgbClr val="E6E6E6"/>
                </a:solidFill>
                <a:latin typeface="Calibri"/>
              </a:rPr>
              <a:t>User-view screen capture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50C878"/>
                </a:solidFill>
                <a:latin typeface="Consolas"/>
              </a:rPr>
              <a:t>&gt;  </a:t>
            </a:r>
            <a:r>
              <a:rPr sz="1800" b="0">
                <a:solidFill>
                  <a:srgbClr val="E6E6E6"/>
                </a:solidFill>
                <a:latin typeface="Calibri"/>
              </a:rPr>
              <a:t>File: others/CSE440_Project_Video.mp4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50C878"/>
                </a:solidFill>
                <a:latin typeface="Consolas"/>
              </a:rPr>
              <a:t>&gt;  </a:t>
            </a:r>
            <a:r>
              <a:rPr sz="1800" b="0">
                <a:solidFill>
                  <a:srgbClr val="E6E6E6"/>
                </a:solidFill>
                <a:latin typeface="Calibri"/>
              </a:rPr>
              <a:t>Do NOT run code live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50C878"/>
                </a:solidFill>
                <a:latin typeface="Consolas"/>
              </a:rPr>
              <a:t>&gt;  </a:t>
            </a:r>
            <a:r>
              <a:rPr sz="1800" b="0">
                <a:solidFill>
                  <a:srgbClr val="E6E6E6"/>
                </a:solidFill>
                <a:latin typeface="Calibri"/>
              </a:rPr>
              <a:t>Then hand back to Mehedi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1554480"/>
            <a:ext cx="5394960" cy="4389120"/>
          </a:xfrm>
          <a:prstGeom prst="rect">
            <a:avLst/>
          </a:prstGeom>
          <a:solidFill>
            <a:srgbClr val="1A1A20"/>
          </a:solidFill>
          <a:ln w="12700">
            <a:solidFill>
              <a:srgbClr val="323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01_main_men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783080"/>
            <a:ext cx="5029200" cy="306125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282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56032" y="155448"/>
            <a:ext cx="164592" cy="164592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2920" y="155448"/>
            <a:ext cx="164592" cy="164592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49808" y="155448"/>
            <a:ext cx="164592" cy="164592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73152"/>
            <a:ext cx="8686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9696A0"/>
                </a:solidFill>
                <a:latin typeface="Consolas"/>
              </a:rPr>
              <a:t>python  ·  github - wrap 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73152"/>
            <a:ext cx="3017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50C878"/>
                </a:solidFill>
                <a:latin typeface="Consolas"/>
              </a:rPr>
              <a:t>5/5  Mehedi END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C0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46520"/>
            <a:ext cx="12191695" cy="27432"/>
          </a:xfrm>
          <a:prstGeom prst="rect">
            <a:avLst/>
          </a:prstGeom>
          <a:solidFill>
            <a:srgbClr val="50C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510528"/>
            <a:ext cx="11612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9696A0"/>
                </a:solidFill>
                <a:latin typeface="Calibri"/>
              </a:rPr>
              <a:t>Group 01  |  Mehedi Ashraf Simanto  ·  Md. Mazharul Islam Masum  ·  Mst. Fahmida Akter  ·  Abdur Rahman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566928"/>
            <a:ext cx="11338560" cy="347472"/>
          </a:xfrm>
          <a:prstGeom prst="rect">
            <a:avLst/>
          </a:prstGeom>
          <a:solidFill>
            <a:srgbClr val="1A1A20"/>
          </a:solidFill>
          <a:ln w="12700">
            <a:solidFill>
              <a:srgbClr val="50C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585216"/>
            <a:ext cx="10972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50C878"/>
                </a:solidFill>
                <a:latin typeface="Consolas"/>
              </a:rPr>
              <a:t>SPEAKER  </a:t>
            </a:r>
            <a:r>
              <a:rPr sz="1400" b="1">
                <a:solidFill>
                  <a:srgbClr val="E6E6E6"/>
                </a:solidFill>
                <a:latin typeface="Calibri"/>
              </a:rPr>
              <a:t>Mehedi Ashraf Simanto   ·   closes - GitHub wrap + thank you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051560"/>
            <a:ext cx="11338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50C878"/>
                </a:solidFill>
                <a:latin typeface="Consolas"/>
              </a:rPr>
              <a:t>&gt; </a:t>
            </a:r>
            <a:r>
              <a:rPr sz="2600" b="1">
                <a:solidFill>
                  <a:srgbClr val="E6E6E6"/>
                </a:solidFill>
                <a:latin typeface="Calibri"/>
              </a:rPr>
              <a:t>GitHub wrap (Mehedi closes)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1554480"/>
            <a:ext cx="11338560" cy="4389120"/>
          </a:xfrm>
          <a:prstGeom prst="rect">
            <a:avLst/>
          </a:prstGeom>
          <a:solidFill>
            <a:srgbClr val="1A1A20"/>
          </a:solidFill>
          <a:ln w="12700">
            <a:solidFill>
              <a:srgbClr val="323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17830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900" b="0">
                <a:solidFill>
                  <a:srgbClr val="50C878"/>
                </a:solidFill>
                <a:latin typeface="Consolas"/>
              </a:rPr>
              <a:t>&gt;  </a:t>
            </a:r>
            <a:r>
              <a:rPr sz="1900" b="0">
                <a:solidFill>
                  <a:srgbClr val="E6E6E6"/>
                </a:solidFill>
                <a:latin typeface="Calibri"/>
              </a:rPr>
              <a:t>Quick scroll: commit history (semester-long work)</a:t>
            </a:r>
          </a:p>
          <a:p>
            <a:pPr>
              <a:spcAft>
                <a:spcPts val="1200"/>
              </a:spcAft>
            </a:pPr>
            <a:r>
              <a:rPr sz="1900" b="0">
                <a:solidFill>
                  <a:srgbClr val="50C878"/>
                </a:solidFill>
                <a:latin typeface="Consolas"/>
              </a:rPr>
              <a:t>&gt;  </a:t>
            </a:r>
            <a:r>
              <a:rPr sz="1900" b="0">
                <a:solidFill>
                  <a:srgbClr val="E6E6E6"/>
                </a:solidFill>
                <a:latin typeface="Calibri"/>
              </a:rPr>
              <a:t>Confirm folders: support/ · data/ · others/</a:t>
            </a:r>
          </a:p>
          <a:p>
            <a:pPr>
              <a:spcAft>
                <a:spcPts val="1200"/>
              </a:spcAft>
            </a:pPr>
            <a:r>
              <a:rPr sz="1900" b="0">
                <a:solidFill>
                  <a:srgbClr val="50C878"/>
                </a:solidFill>
                <a:latin typeface="Consolas"/>
              </a:rPr>
              <a:t>&gt;  </a:t>
            </a:r>
            <a:r>
              <a:rPr sz="1900" b="0">
                <a:solidFill>
                  <a:srgbClr val="E6E6E6"/>
                </a:solidFill>
                <a:latin typeface="Calibri"/>
              </a:rPr>
              <a:t>others/ has final report PDF + demo video</a:t>
            </a:r>
          </a:p>
          <a:p>
            <a:pPr>
              <a:spcAft>
                <a:spcPts val="1200"/>
              </a:spcAft>
            </a:pPr>
            <a:r>
              <a:rPr sz="1900" b="0">
                <a:solidFill>
                  <a:srgbClr val="50C878"/>
                </a:solidFill>
                <a:latin typeface="Consolas"/>
              </a:rPr>
              <a:t>&gt;  </a:t>
            </a:r>
            <a:r>
              <a:rPr sz="1900" b="0">
                <a:solidFill>
                  <a:srgbClr val="E6E6E6"/>
                </a:solidFill>
                <a:latin typeface="Calibri"/>
              </a:rPr>
              <a:t>Team finished: Rahman (UI) · Masum (board) · Fahmida (AI/game)</a:t>
            </a:r>
          </a:p>
          <a:p>
            <a:pPr>
              <a:spcAft>
                <a:spcPts val="1200"/>
              </a:spcAft>
            </a:pPr>
            <a:r>
              <a:rPr sz="1900" b="0">
                <a:solidFill>
                  <a:srgbClr val="50C878"/>
                </a:solidFill>
                <a:latin typeface="Consolas"/>
              </a:rPr>
              <a:t>&gt;  </a:t>
            </a:r>
            <a:r>
              <a:rPr sz="1900" b="0">
                <a:solidFill>
                  <a:srgbClr val="E6E6E6"/>
                </a:solidFill>
                <a:latin typeface="Calibri"/>
              </a:rPr>
              <a:t>Thank you - we are ready for questions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598932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3A8F58"/>
                </a:solidFill>
                <a:latin typeface="Consolas"/>
              </a:rPr>
              <a:t>// </a:t>
            </a:r>
            <a:r>
              <a:rPr sz="1200" b="0">
                <a:solidFill>
                  <a:srgbClr val="9696A0"/>
                </a:solidFill>
                <a:latin typeface="Calibri"/>
              </a:rPr>
              <a:t>Keep closing under ~90 seconds.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282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56032" y="155448"/>
            <a:ext cx="164592" cy="164592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2920" y="155448"/>
            <a:ext cx="164592" cy="164592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49808" y="155448"/>
            <a:ext cx="164592" cy="164592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73152"/>
            <a:ext cx="8686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9696A0"/>
                </a:solidFill>
                <a:latin typeface="Consolas"/>
              </a:rPr>
              <a:t>python  ·  exit(0)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73152"/>
            <a:ext cx="3017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50C878"/>
                </a:solidFill>
                <a:latin typeface="Consolas"/>
              </a:rPr>
              <a:t>5/5  Mehedi END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C0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46520"/>
            <a:ext cx="12191695" cy="27432"/>
          </a:xfrm>
          <a:prstGeom prst="rect">
            <a:avLst/>
          </a:prstGeom>
          <a:solidFill>
            <a:srgbClr val="50C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510528"/>
            <a:ext cx="11612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9696A0"/>
                </a:solidFill>
                <a:latin typeface="Calibri"/>
              </a:rPr>
              <a:t>Group 01  |  Mehedi Ashraf Simanto  ·  Md. Mazharul Islam Masum  ·  Mst. Fahmida Akter  ·  Abdur Rahman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566928"/>
            <a:ext cx="11338560" cy="347472"/>
          </a:xfrm>
          <a:prstGeom prst="rect">
            <a:avLst/>
          </a:prstGeom>
          <a:solidFill>
            <a:srgbClr val="1A1A20"/>
          </a:solidFill>
          <a:ln w="12700">
            <a:solidFill>
              <a:srgbClr val="50C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585216"/>
            <a:ext cx="10972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50C878"/>
                </a:solidFill>
                <a:latin typeface="Consolas"/>
              </a:rPr>
              <a:t>SPEAKER  </a:t>
            </a:r>
            <a:r>
              <a:rPr sz="1400" b="1">
                <a:solidFill>
                  <a:srgbClr val="E6E6E6"/>
                </a:solidFill>
                <a:latin typeface="Calibri"/>
              </a:rPr>
              <a:t>Mehedi Ashraf Simanto   ·   thank you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2011680"/>
            <a:ext cx="11338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50C878"/>
                </a:solidFill>
                <a:latin typeface="Consolas"/>
              </a:rPr>
              <a:t>&gt; </a:t>
            </a:r>
            <a:r>
              <a:rPr sz="4400" b="1">
                <a:solidFill>
                  <a:srgbClr val="E6E6E6"/>
                </a:solidFill>
                <a:latin typeface="Calibri"/>
              </a:rPr>
              <a:t>Thank you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926080"/>
            <a:ext cx="1124712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0">
                <a:solidFill>
                  <a:srgbClr val="50C878"/>
                </a:solidFill>
                <a:latin typeface="Consolas"/>
              </a:rPr>
              <a:t>Questions?</a:t>
            </a:r>
          </a:p>
          <a:p>
            <a:pPr algn="ctr">
              <a:spcBef>
                <a:spcPts val="1600"/>
              </a:spcBef>
            </a:pPr>
            <a:r>
              <a:rPr sz="1500" b="0">
                <a:solidFill>
                  <a:srgbClr val="9696A0"/>
                </a:solidFill>
                <a:latin typeface="Consolas"/>
              </a:rPr>
              <a:t>github.com/simanto4321/CSE440-section-01--TIC-TAC-TOE-GAME-</a:t>
            </a:r>
          </a:p>
          <a:p>
            <a:pPr algn="ctr">
              <a:spcBef>
                <a:spcPts val="1000"/>
              </a:spcBef>
            </a:pPr>
            <a:r>
              <a:rPr sz="1800" b="0">
                <a:solidFill>
                  <a:srgbClr val="FFB446"/>
                </a:solidFill>
                <a:latin typeface="Consolas"/>
              </a:rPr>
              <a:t>$ python main.py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